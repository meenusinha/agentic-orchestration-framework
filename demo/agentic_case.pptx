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8A6F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8A6FF"/>
                </a:solidFill>
              </a:rPr>
              <a:t>Your Teams Work in Parallel.
Your AI Doesn't.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783080"/>
            <a:ext cx="11274552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6FC"/>
                </a:solidFill>
              </a:rPr>
              <a:t>The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883E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3493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C"/>
                </a:solidFill>
              </a:rPr>
              <a:t>5+ sub-function teams commit simultaneously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706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883E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70632"/>
            <a:ext cx="3493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C"/>
                </a:solidFill>
              </a:rPr>
              <a:t>Each team needs AI help right now, in parallel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95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883E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09544"/>
            <a:ext cx="3493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C"/>
                </a:solidFill>
              </a:rPr>
              <a:t>Each domain has its own code, physics,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4845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883E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648456"/>
            <a:ext cx="3493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C"/>
                </a:solidFill>
              </a:rPr>
              <a:t>Any change can invalidate an AI trained on the whole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70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095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6484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92024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</a:rPr>
              <a:t>4 Critical Failure Modes of a Monolithic LLM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331720"/>
            <a:ext cx="6675120" cy="768096"/>
          </a:xfrm>
          <a:prstGeom prst="rect">
            <a:avLst/>
          </a:prstGeom>
          <a:solidFill>
            <a:srgbClr val="1A1A22"/>
          </a:solidFill>
          <a:ln w="1905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8072" y="240487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7B72"/>
                </a:solidFill>
              </a:rPr>
              <a:t>① Retraining Bottleneck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267919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One team's commit → 3–4 week retrain → all others blocked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3172968"/>
            <a:ext cx="6675120" cy="768096"/>
          </a:xfrm>
          <a:prstGeom prst="rect">
            <a:avLst/>
          </a:prstGeom>
          <a:solidFill>
            <a:srgbClr val="1A1A22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8072" y="3246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883E"/>
                </a:solidFill>
              </a:rPr>
              <a:t>② Knowledge Conflicts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2" y="35204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Optics ≠ Control Theory ≠ Sensor Physics — a single model degrades at all three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4014215"/>
            <a:ext cx="6675120" cy="768096"/>
          </a:xfrm>
          <a:prstGeom prst="rect">
            <a:avLst/>
          </a:prstGeom>
          <a:solidFill>
            <a:srgbClr val="1A1A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48072" y="4087367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C8CFF"/>
                </a:solidFill>
              </a:rPr>
              <a:t>③ No Auditability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8072" y="4361687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Mixed-domain training = can't trace a suggestion to its source — fatal for safety-critical code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4855464"/>
            <a:ext cx="6675120" cy="768096"/>
          </a:xfrm>
          <a:prstGeom prst="rect">
            <a:avLst/>
          </a:prstGeom>
          <a:solidFill>
            <a:srgbClr val="1A1A22"/>
          </a:solidFill>
          <a:ln w="190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48072" y="492861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949E"/>
                </a:solidFill>
              </a:rPr>
              <a:t>④ Context Saturation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8072" y="520293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All designs + specs + code &gt; any LLM context — model drowns in irrelevant noise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6108192"/>
            <a:ext cx="11274552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F6FC"/>
                </a:solidFill>
              </a:rPr>
              <a:t>Bottom line:  Decomposing your code solved the parallel-team problem.  Decomposing your AI solves it again — at the intelligence layer.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8A6FF"/>
                </a:solidFill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58A6FF"/>
                </a:solidFill>
              </a:rPr>
              <a:t>One Agent Per Sub-function, All Coordinated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97280"/>
            <a:ext cx="11274552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234440"/>
            <a:ext cx="3749039" cy="4434840"/>
          </a:xfrm>
          <a:prstGeom prst="rect">
            <a:avLst/>
          </a:prstGeom>
          <a:solidFill>
            <a:srgbClr val="201010"/>
          </a:solidFill>
          <a:ln w="1905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</a:rPr>
              <a:t>✗  Monolithic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10512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6060"/>
                </a:solidFill>
              </a:rPr>
              <a:t>  ✗  Trained on entire codebase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13432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6060"/>
                </a:solidFill>
              </a:rPr>
              <a:t>  ✗  One stale update blocks everyone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6060"/>
                </a:solidFill>
              </a:rPr>
              <a:t>  ✗  Cannot isolate domain expertise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19272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6060"/>
                </a:solidFill>
              </a:rPr>
              <a:t>  ✗  Suggestions untraceable by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22191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6060"/>
                </a:solidFill>
              </a:rPr>
              <a:t>  ✗  Context window overwhelmed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25112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6060"/>
                </a:solidFill>
              </a:rPr>
              <a:t>  ✗  3–4 week retrain per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B949E"/>
                </a:solidFill>
              </a:rPr>
              <a:t>vs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234440"/>
            <a:ext cx="6858000" cy="4434840"/>
          </a:xfrm>
          <a:prstGeom prst="rect">
            <a:avLst/>
          </a:prstGeom>
          <a:solidFill>
            <a:srgbClr val="10201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3258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</a:rPr>
              <a:t>✓  Distributed Agentic Orchestration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1828800"/>
            <a:ext cx="2286000" cy="658368"/>
          </a:xfrm>
          <a:prstGeom prst="rect">
            <a:avLst/>
          </a:prstGeom>
          <a:solidFill>
            <a:srgbClr val="1F3A5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1192" y="1947672"/>
            <a:ext cx="20482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F6FC"/>
                </a:solidFill>
              </a:rPr>
              <a:t>Orchestrator
(cross-domain routing)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880360"/>
            <a:ext cx="1828800" cy="658368"/>
          </a:xfrm>
          <a:prstGeom prst="rect">
            <a:avLst/>
          </a:prstGeom>
          <a:solidFill>
            <a:srgbClr val="1A3A1A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8072" y="2999232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F6FC"/>
                </a:solidFill>
              </a:rPr>
              <a:t>Wavefront
Agent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880360"/>
            <a:ext cx="1828800" cy="658368"/>
          </a:xfrm>
          <a:prstGeom prst="rect">
            <a:avLst/>
          </a:prstGeom>
          <a:solidFill>
            <a:srgbClr val="1A3A1A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2632" y="2999232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F6FC"/>
                </a:solidFill>
              </a:rPr>
              <a:t>Stage Control
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2880360"/>
            <a:ext cx="1828800" cy="658368"/>
          </a:xfrm>
          <a:prstGeom prst="rect">
            <a:avLst/>
          </a:prstGeom>
          <a:solidFill>
            <a:srgbClr val="1A3A1A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37192" y="2999232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F6FC"/>
                </a:solidFill>
              </a:rPr>
              <a:t>Metrology
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3538728"/>
            <a:ext cx="1828800" cy="530352"/>
          </a:xfrm>
          <a:prstGeom prst="rect">
            <a:avLst/>
          </a:prstGeom>
          <a:solidFill>
            <a:srgbClr val="0F180F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48072" y="3657600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Domain LLM
+ RAG Index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3538728"/>
            <a:ext cx="1828800" cy="530352"/>
          </a:xfrm>
          <a:prstGeom prst="rect">
            <a:avLst/>
          </a:prstGeom>
          <a:solidFill>
            <a:srgbClr val="0F180F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42632" y="3657600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Domain LLM
+ RAG Index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3538728"/>
            <a:ext cx="1828800" cy="530352"/>
          </a:xfrm>
          <a:prstGeom prst="rect">
            <a:avLst/>
          </a:prstGeom>
          <a:solidFill>
            <a:srgbClr val="0F180F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37192" y="3657600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Domain LLM
+ RAG Index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943600" y="2487168"/>
            <a:ext cx="2331720" cy="393192"/>
          </a:xfrm>
          <a:prstGeom prst="line">
            <a:avLst/>
          </a:prstGeom>
          <a:ln w="1270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229600" y="2487168"/>
            <a:ext cx="45720" cy="393192"/>
          </a:xfrm>
          <a:prstGeom prst="line">
            <a:avLst/>
          </a:prstGeom>
          <a:ln w="1270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275320" y="2487168"/>
            <a:ext cx="2057400" cy="393192"/>
          </a:xfrm>
          <a:prstGeom prst="line">
            <a:avLst/>
          </a:prstGeom>
          <a:ln w="1270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983480" y="420624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CC80"/>
                </a:solidFill>
              </a:rPr>
              <a:t>  ✓  Deep narrow expertise per sub-function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4636007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CC80"/>
                </a:solidFill>
              </a:rPr>
              <a:t>  ✓  RAG index updates on each commit (minutes)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5065775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CC80"/>
                </a:solidFill>
              </a:rPr>
              <a:t>  ✓  Agents run in parallel — zero blocking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549554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CC80"/>
                </a:solidFill>
              </a:rPr>
              <a:t>  ✓  Every suggestion traceable to its knowledge source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5925312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CC80"/>
                </a:solidFill>
              </a:rPr>
              <a:t>  ✓  Orchestrator handles cross-domain features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6355079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CC80"/>
                </a:solidFill>
              </a:rPr>
              <a:t>  ✓  Scales: add a new sub-function → add one agent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" y="6108192"/>
            <a:ext cx="11274552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65760" y="6172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Research backing:  MetaGPT (Hong et al. 2023) · Self-Organized Agents (Ishibashi &amp; Nishimura 2024) · Cross-Team Orchestration (Du et al. ACL 2025) · Anthropic: Building Effective Agents (2024)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8A6FF"/>
                </a:solidFill>
              </a:rP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58A6FF"/>
                </a:solidFill>
              </a:rPr>
              <a:t>The Agent Harness: Safety &amp; Quality by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97280"/>
            <a:ext cx="11274552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234440"/>
            <a:ext cx="11430000" cy="804672"/>
          </a:xfrm>
          <a:prstGeom prst="rect">
            <a:avLst/>
          </a:prstGeom>
          <a:solidFill>
            <a:srgbClr val="1F3A5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What is a harness?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8191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6FC"/>
                </a:solidFill>
              </a:rPr>
              <a:t>A controlled runtime wrapper around each agent that enforces tool permissions, runs standard checks, records full traces, and produces one decision report — before any output reaches a human or downstream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12848"/>
            <a:ext cx="2743200" cy="2286000"/>
          </a:xfrm>
          <a:prstGeom prst="rect">
            <a:avLst/>
          </a:prstGeom>
          <a:solidFill>
            <a:srgbClr val="12171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322576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8A6FF"/>
                </a:solidFill>
              </a:rPr>
              <a:t>Tool
Permissions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2926080"/>
            <a:ext cx="11274552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488" y="2990088"/>
            <a:ext cx="2523744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Each agent can only call
the MCP servers it owns.
No cross-boundary reads
without explicit policy.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212848"/>
            <a:ext cx="2743200" cy="2286000"/>
          </a:xfrm>
          <a:prstGeom prst="rect">
            <a:avLst/>
          </a:prstGeom>
          <a:solidFill>
            <a:srgbClr val="12171F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2322576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FB950"/>
                </a:solidFill>
              </a:rPr>
              <a:t>Standard
Checks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2926080"/>
            <a:ext cx="11274552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55848" y="2990088"/>
            <a:ext cx="2523744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Physics consistency,
regression tests, linting,
type checks — all run
automatically per change.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212848"/>
            <a:ext cx="2743200" cy="2286000"/>
          </a:xfrm>
          <a:prstGeom prst="rect">
            <a:avLst/>
          </a:prstGeom>
          <a:solidFill>
            <a:srgbClr val="12171F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2322576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883E"/>
                </a:solidFill>
              </a:rPr>
              <a:t>Trace
Logging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2926080"/>
            <a:ext cx="11274552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36208" y="2990088"/>
            <a:ext cx="2523744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Every tool call, RAG query,
and model response logged.
Full audit trail from request
to recommendation.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2212848"/>
            <a:ext cx="2743200" cy="2286000"/>
          </a:xfrm>
          <a:prstGeom prst="rect">
            <a:avLst/>
          </a:prstGeom>
          <a:solidFill>
            <a:srgbClr val="12171F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2322576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C8CFF"/>
                </a:solidFill>
              </a:rPr>
              <a:t>Decision
Report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2926080"/>
            <a:ext cx="11274552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16568" y="2990088"/>
            <a:ext cx="2523744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One scorecard per change:
passed checks, risk flags,
tool-call trace, source-
artifact citation.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4663440"/>
            <a:ext cx="11274552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47365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Implementation stack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029200"/>
            <a:ext cx="2743200" cy="822960"/>
          </a:xfrm>
          <a:prstGeom prst="rect">
            <a:avLst/>
          </a:prstGeom>
          <a:solidFill>
            <a:srgbClr val="10151C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5148072"/>
            <a:ext cx="250545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6FC"/>
                </a:solidFill>
              </a:rPr>
              <a:t>LangGraph /
LangChain
Stateful agent workflow,
conditional routing, retries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5029200"/>
            <a:ext cx="2743200" cy="822960"/>
          </a:xfrm>
          <a:prstGeom prst="rect">
            <a:avLst/>
          </a:prstGeom>
          <a:solidFill>
            <a:srgbClr val="10151C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64992" y="5148072"/>
            <a:ext cx="250545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6FC"/>
                </a:solidFill>
              </a:rPr>
              <a:t>MCP Servers
Scoped tool access per
repo — stdio JSON-RPC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5029200"/>
            <a:ext cx="2743200" cy="822960"/>
          </a:xfrm>
          <a:prstGeom prst="rect">
            <a:avLst/>
          </a:prstGeom>
          <a:solidFill>
            <a:srgbClr val="10151C"/>
          </a:solidFill>
          <a:ln w="95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52" y="5148072"/>
            <a:ext cx="250545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6FC"/>
                </a:solidFill>
              </a:rPr>
              <a:t>CI/CD Pipeline
Harness runs in PR gate;
blocks merge on failure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5029200"/>
            <a:ext cx="2743200" cy="822960"/>
          </a:xfrm>
          <a:prstGeom prst="rect">
            <a:avLst/>
          </a:prstGeom>
          <a:solidFill>
            <a:srgbClr val="10151C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25712" y="5148072"/>
            <a:ext cx="250545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6FC"/>
                </a:solidFill>
              </a:rPr>
              <a:t>Governance
Controls
Access control, encryption,
audit log retention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0" y="6108192"/>
            <a:ext cx="11274552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5760" y="6172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F6FC"/>
                </a:solidFill>
              </a:rPr>
              <a:t>"No unharnessed output ships."  — AI accelerates; the harness governs; humans decide.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8A6FF"/>
                </a:solidFill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58A6FF"/>
                </a:solidFill>
              </a:rPr>
              <a:t>Two Gates Before Any Output Reaches Production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97280"/>
            <a:ext cx="11274552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234440"/>
            <a:ext cx="5394960" cy="4297680"/>
          </a:xfrm>
          <a:prstGeom prst="rect">
            <a:avLst/>
          </a:prstGeom>
          <a:solidFill>
            <a:srgbClr val="101A10"/>
          </a:solidFill>
          <a:ln w="222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Gate 1 — Automated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Runs on every commit. Blocks Gate 2 if it fails.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84248"/>
            <a:ext cx="5212080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0756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</a:rPr>
              <a:t>▸  HELM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500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Accuracy · Robustness · Consistency
(Bommasani et al. 2023 — industry standard)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529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▸  Domain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272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Physics consistency, performance benchmarks,
regression vs. reference artifacts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301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883E"/>
                </a:solidFill>
              </a:rPr>
              <a:t>▸  Risk flags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044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Hallucination detector, confidence score,
out-of-domain query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07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C8CFF"/>
                </a:solidFill>
              </a:rPr>
              <a:t>▸  Scorecard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817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Pass/Fail threshold, tool-call trace,
source-artifact citation per suggestion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234440"/>
            <a:ext cx="5852160" cy="4297680"/>
          </a:xfrm>
          <a:prstGeom prst="rect">
            <a:avLst/>
          </a:prstGeom>
          <a:solidFill>
            <a:srgbClr val="1A1410"/>
          </a:solidFill>
          <a:ln w="222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83E"/>
                </a:solidFill>
              </a:rPr>
              <a:t>Gate 2 — Human-in-Loop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6916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Final decision. Engineer sees WHY, not just WHAT.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1984248"/>
            <a:ext cx="5669280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0" y="20756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883E"/>
                </a:solidFill>
              </a:rPr>
              <a:t>▸  Evaluated results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50008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Engineer reviews scorecard + source trace
before accepting any AI 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8529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7B72"/>
                </a:solidFill>
              </a:rPr>
              <a:t>▸  Design sign-off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127248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Architecture and design decisions always
require explicit engineer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630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C8CFF"/>
                </a:solidFill>
              </a:rPr>
              <a:t>▸  Cross-boundary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904488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Any feature touching &gt;1 sub-function
escalates to system lead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4074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▸  Compliance &amp; IP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681728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Security, IP exposure, licence compliance
reviewed before merge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779008" y="3383280"/>
            <a:ext cx="164592" cy="0"/>
          </a:xfrm>
          <a:prstGeom prst="line">
            <a:avLst/>
          </a:prstGeom>
          <a:ln w="19050">
            <a:solidFill>
              <a:srgbClr val="F0F6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" y="5687568"/>
            <a:ext cx="11274552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65760" y="5760720"/>
            <a:ext cx="2148840" cy="868680"/>
          </a:xfrm>
          <a:prstGeom prst="rect">
            <a:avLst/>
          </a:prstGeom>
          <a:solidFill>
            <a:srgbClr val="12141A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8064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B950"/>
                </a:solidFill>
              </a:rPr>
              <a:t>Automated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0533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Accuracy,
Robustness,
Consistency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5760720"/>
            <a:ext cx="2148840" cy="868680"/>
          </a:xfrm>
          <a:prstGeom prst="rect">
            <a:avLst/>
          </a:prstGeom>
          <a:solidFill>
            <a:srgbClr val="12141A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58064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Domain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60533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Physics,
Performance,
Regression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0" y="5760720"/>
            <a:ext cx="2148840" cy="868680"/>
          </a:xfrm>
          <a:prstGeom prst="rect">
            <a:avLst/>
          </a:prstGeom>
          <a:solidFill>
            <a:srgbClr val="12141A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0" y="58064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883E"/>
                </a:solidFill>
              </a:rPr>
              <a:t>Risk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60533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Hallucination,
Confidence,
OOD detection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5760720"/>
            <a:ext cx="2148840" cy="868680"/>
          </a:xfrm>
          <a:prstGeom prst="rect">
            <a:avLst/>
          </a:prstGeom>
          <a:solidFill>
            <a:srgbClr val="12141A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58064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C8CFF"/>
                </a:solidFill>
              </a:rPr>
              <a:t>Trace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60533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Full tool-call
and source-
artifact log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09760" y="5760720"/>
            <a:ext cx="2148840" cy="868680"/>
          </a:xfrm>
          <a:prstGeom prst="rect">
            <a:avLst/>
          </a:prstGeom>
          <a:solidFill>
            <a:srgbClr val="12141A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0" y="58064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7B72"/>
                </a:solidFill>
              </a:rPr>
              <a:t>Human 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60533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Sign-off on
design decisions
+ compliance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8A6FF"/>
                </a:solidFill>
              </a:rPr>
              <a:t>SECURITY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8A6FF"/>
                </a:solidFill>
              </a:rPr>
              <a:t>Four-Layer IP Protection: Risk Distributed, Not Concentrated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97280"/>
            <a:ext cx="11274552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234440"/>
            <a:ext cx="11430000" cy="1261872"/>
          </a:xfrm>
          <a:prstGeom prst="rect">
            <a:avLst/>
          </a:prstGeom>
          <a:solidFill>
            <a:srgbClr val="101828"/>
          </a:solidFill>
          <a:ln w="15876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07592"/>
            <a:ext cx="749808" cy="292608"/>
          </a:xfrm>
          <a:prstGeom prst="rect">
            <a:avLst/>
          </a:prstGeom>
          <a:solidFill>
            <a:srgbClr val="58A6F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426464"/>
            <a:ext cx="512064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Layer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0759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Specialist Models Per Sub-Function AND Per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91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F6FC"/>
                </a:solidFill>
              </a:rPr>
              <a:t>Code Model  (Codex-class)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4767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Knows HOW to write domain-specific code.
Not WHY it matters. Not cross-function APIs.
→ Codex: 28.8% HumanEval vs GPT-3: 0%
   (Chen et al. 2021)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1645920"/>
            <a:ext cx="0" cy="758952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72200" y="16916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F6FC"/>
                </a:solidFill>
              </a:rPr>
              <a:t>Reasoning Model  (Chain-of-thought)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94767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Knows WHY: physics constraints, domain logic.
Cannot generate code syntax alone.
→ Compromise ≠ code generation capability
   (OpenAI o1, Anthropic Extended Reasoning)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78608"/>
            <a:ext cx="11430000" cy="1261872"/>
          </a:xfrm>
          <a:prstGeom prst="rect">
            <a:avLst/>
          </a:prstGeom>
          <a:solidFill>
            <a:srgbClr val="102214"/>
          </a:solidFill>
          <a:ln w="15876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2651760"/>
            <a:ext cx="749808" cy="292608"/>
          </a:xfrm>
          <a:prstGeom prst="rect">
            <a:avLst/>
          </a:prstGeom>
          <a:solidFill>
            <a:srgbClr val="3FB950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" y="2770632"/>
            <a:ext cx="512064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Layer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517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</a:rPr>
              <a:t>Model Protection = Production Code 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0358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F6FC"/>
                </a:solidFill>
              </a:rPr>
              <a:t>Technical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29184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Versioning + rollback · Access control
Encryption at rest &amp; in transit
Audit logging of every prediction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2990088"/>
            <a:ext cx="0" cy="758952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72200" y="303580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F6FC"/>
                </a:solidFill>
              </a:rPr>
              <a:t>Deployment options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29184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Air-gapped on-prem: models never leave
your infrastructure · No cloud API calls
for sensitive sub-function 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22776"/>
            <a:ext cx="11430000" cy="1261872"/>
          </a:xfrm>
          <a:prstGeom prst="rect">
            <a:avLst/>
          </a:prstGeom>
          <a:solidFill>
            <a:srgbClr val="221810"/>
          </a:solidFill>
          <a:ln w="15876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" y="3995928"/>
            <a:ext cx="749808" cy="292608"/>
          </a:xfrm>
          <a:prstGeom prst="rect">
            <a:avLst/>
          </a:prstGeom>
          <a:solidFill>
            <a:srgbClr val="F0883E"/>
          </a:solidFill>
          <a:ln w="95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4114800"/>
            <a:ext cx="512064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Layer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99592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883E"/>
                </a:solidFill>
              </a:rPr>
              <a:t>RAG for Live Knowledge — Stateless, Portable, Updateable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3799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F6FC"/>
                </a:solidFill>
              </a:rPr>
              <a:t>Models are stateless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63600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Code + specs live in YOUR vector DB.
Update the database → all agents see new
knowledge instantly. No retraining needed.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35040" y="4334256"/>
            <a:ext cx="0" cy="758952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172200" y="437997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F6FC"/>
                </a:solidFill>
              </a:rPr>
              <a:t>Security benefit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63600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Stolen model = code skeleton generator
without your proprietary knowledge.
Knowledge and model are separated.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66944"/>
            <a:ext cx="11430000" cy="1261872"/>
          </a:xfrm>
          <a:prstGeom prst="rect">
            <a:avLst/>
          </a:prstGeom>
          <a:solidFill>
            <a:srgbClr val="1C142A"/>
          </a:solidFill>
          <a:ln w="15876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" y="5340096"/>
            <a:ext cx="749808" cy="292608"/>
          </a:xfrm>
          <a:prstGeom prst="rect">
            <a:avLst/>
          </a:prstGeom>
          <a:solidFill>
            <a:srgbClr val="BC8CFF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" y="5458968"/>
            <a:ext cx="512064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Layer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340096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C8CFF"/>
                </a:solidFill>
              </a:rPr>
              <a:t>Scoped MCP Permissions + Human Final 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7241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F6FC"/>
                </a:solidFill>
              </a:rPr>
              <a:t>Scoped 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598017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Each model accesses only its sub-function's
MCP servers. Cross-boundary decisions always
require explicit human approval.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35040" y="5678424"/>
            <a:ext cx="0" cy="758952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72200" y="572414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F6FC"/>
                </a:solidFill>
              </a:rPr>
              <a:t>Attack surface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5980176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Attacker must compromise: Code Model +
Reasoning Model + Orchestrator + RAG DB
= far harder than one monolithic target.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7200" y="6492240"/>
            <a:ext cx="11274552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0F6FC"/>
                </a:solidFill>
              </a:rPr>
              <a:t>Outcome:  Risk is distributed across sub-functions, task types, and protection layers.  No single model is a complete mirror of your IP.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